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78" r:id="rId4"/>
    <p:sldId id="262" r:id="rId5"/>
    <p:sldId id="259" r:id="rId6"/>
    <p:sldId id="260" r:id="rId7"/>
    <p:sldId id="261" r:id="rId8"/>
    <p:sldId id="279" r:id="rId9"/>
    <p:sldId id="268" r:id="rId10"/>
    <p:sldId id="269" r:id="rId11"/>
    <p:sldId id="270" r:id="rId12"/>
    <p:sldId id="271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mfort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18AE"/>
    <a:srgbClr val="2F3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0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448" y="56"/>
      </p:cViewPr>
      <p:guideLst>
        <p:guide orient="horz" pos="215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 (bar)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6.3</c:v>
                </c:pt>
                <c:pt idx="1">
                  <c:v>7.8</c:v>
                </c:pt>
                <c:pt idx="2">
                  <c:v>8.9</c:v>
                </c:pt>
                <c:pt idx="3">
                  <c:v>10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DCB-47F4-830E-DB8840E1A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1659360"/>
        <c:axId val="1051659776"/>
      </c:scatterChart>
      <c:valAx>
        <c:axId val="1051659360"/>
        <c:scaling>
          <c:orientation val="minMax"/>
          <c:max val="10.199999999999999"/>
          <c:min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Flow</a:t>
                </a:r>
                <a:r>
                  <a:rPr lang="en-US" baseline="0"/>
                  <a:t> per Emitter (mL/s)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1659776"/>
        <c:crosses val="autoZero"/>
        <c:crossBetween val="midCat"/>
      </c:valAx>
      <c:valAx>
        <c:axId val="1051659776"/>
        <c:scaling>
          <c:orientation val="minMax"/>
          <c:max val="10"/>
          <c:min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Pressure (bar)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16593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40f072b-fba1-4530-ac64-0d574aa1cfea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2E434-2EC0-4AAA-89E6-9ED14693F68C}" type="doc">
      <dgm:prSet loTypeId="urn:microsoft.com/office/officeart/2005/8/layout/chevron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683AA2BC-71A3-41CB-9439-EE69023D3F46}" type="pres">
      <dgm:prSet presAssocID="{ACA2E434-2EC0-4AAA-89E6-9ED14693F68C}" presName="linearFlow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95649FEB-C93F-47BD-A434-41FA3B31DDCF}" type="presOf" srcId="{ACA2E434-2EC0-4AAA-89E6-9ED14693F68C}" destId="{683AA2BC-71A3-41CB-9439-EE69023D3F46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1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1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2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58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60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6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2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6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5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4863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CAC4E-FD66-44DE-9C57-03A1C6085CCC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3"/>
          <p:cNvSpPr/>
          <p:nvPr/>
        </p:nvSpPr>
        <p:spPr>
          <a:xfrm>
            <a:off x="0" y="2849327"/>
            <a:ext cx="11887200" cy="3449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/>
              <a:t>DESIGN OF A MOBILE PRECISION IRRIGATION SYSTEM FOR SMALL SCALE COMMERCIAL FARMERS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endParaRPr lang="en-US" altLang="en-GB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TANATSWA KASIRORI - H240598Q 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ZOE KARIPACHE - H240530B</a:t>
            </a:r>
            <a:endParaRPr lang="en-US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MCEBO MAHLANGU– H240707W</a:t>
            </a:r>
            <a:endParaRPr lang="en-US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TIVAKUDZE MAGUNDA- H240464A</a:t>
            </a:r>
            <a:endParaRPr lang="en-US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endParaRPr lang="en-GB" altLang="zh-CN" sz="3600" b="1" dirty="0">
              <a:solidFill>
                <a:srgbClr val="2A18A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Picture 4" descr="HIT logo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1514" y="235130"/>
            <a:ext cx="4495851" cy="15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>
          <a:xfrm>
            <a:off x="825674" y="7641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1048591" name="Text Box 1"/>
          <p:cNvSpPr txBox="1"/>
          <p:nvPr/>
        </p:nvSpPr>
        <p:spPr>
          <a:xfrm>
            <a:off x="825500" y="1269365"/>
            <a:ext cx="9602470" cy="51129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 accounts for about 70% of global freshwater withdrawals (FAO)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small‑scale farmers still rely on surface or furrow irrigation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systems apply water across the entire field, including non‑planted areas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Potatoes have a shallow root system and require carefully controlled soil moisture.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0" y="3312141"/>
            <a:ext cx="4911300" cy="26594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1" y="3079102"/>
            <a:ext cx="5425439" cy="31096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205" y="761537"/>
            <a:ext cx="5408660" cy="2326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2850515" y="229870"/>
            <a:ext cx="5900420" cy="132588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640080" y="1156970"/>
            <a:ext cx="10910570" cy="47021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Agriculture uses 70% of global water</a:t>
            </a:r>
          </a:p>
          <a:p>
            <a:r>
              <a:rPr lang="en-US" dirty="0"/>
              <a:t>Irrigation efficiency is critical in water-limited areas — inefficient methods cause losses via runoff, percolation &amp; evaporation (World Bank, 2021).</a:t>
            </a:r>
          </a:p>
          <a:p>
            <a:r>
              <a:rPr lang="en-US" dirty="0"/>
              <a:t>Drip irrigation systems</a:t>
            </a:r>
          </a:p>
          <a:p>
            <a:r>
              <a:rPr lang="en-US" dirty="0"/>
              <a:t>Precision irrigation technologies</a:t>
            </a:r>
          </a:p>
          <a:p>
            <a:r>
              <a:rPr lang="en-US" b="1" dirty="0"/>
              <a:t> </a:t>
            </a:r>
            <a:r>
              <a:rPr lang="en-US" dirty="0"/>
              <a:t>Mobile irrigation systems</a:t>
            </a:r>
          </a:p>
          <a:p>
            <a:r>
              <a:rPr lang="en-US" dirty="0"/>
              <a:t>Sensor-Based Line Detection in Agriculture </a:t>
            </a:r>
          </a:p>
          <a:p>
            <a:r>
              <a:rPr lang="en-US" dirty="0"/>
              <a:t>Irrigation Timing and Control Systems </a:t>
            </a:r>
            <a:endParaRPr lang="en-US" b="1" dirty="0"/>
          </a:p>
          <a:p>
            <a:r>
              <a:rPr lang="en-US" dirty="0"/>
              <a:t> Synthesis of Existing Irrigation Systems: Achievements and Research Gaps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>
          <a:xfrm>
            <a:off x="2269115" y="19757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>
          <a:xfrm>
            <a:off x="1092835" y="1522730"/>
            <a:ext cx="9914890" cy="4213225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Current irrigation practices among small-scale commercial potato farmers in Natural Region II waste water by irrigating the the entire area without focusing on the plants.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3957955" y="365125"/>
            <a:ext cx="2985770" cy="1325880"/>
          </a:xfrm>
        </p:spPr>
        <p:txBody>
          <a:bodyPr/>
          <a:lstStyle/>
          <a:p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AIM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503045"/>
            <a:ext cx="10515600" cy="3341370"/>
          </a:xfrm>
        </p:spPr>
        <p:txBody>
          <a:bodyPr/>
          <a:lstStyle/>
          <a:p>
            <a:r>
              <a:rPr lang="en-GB" sz="36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mobile precision irrigation system capable of delivering controlled water quantities on potato crop level to improve irrigation efficiency on small‑scale commercial farms up to 5 ha.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3756660" y="-17145"/>
            <a:ext cx="4538345" cy="13258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</a:p>
        </p:txBody>
      </p:sp>
      <p:graphicFrame>
        <p:nvGraphicFramePr>
          <p:cNvPr id="4194304" name="Diagram 6"/>
          <p:cNvGraphicFramePr/>
          <p:nvPr/>
        </p:nvGraphicFramePr>
        <p:xfrm>
          <a:off x="1008380" y="1308100"/>
          <a:ext cx="9151620" cy="4366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597" name="Text Box 2"/>
          <p:cNvSpPr txBox="1"/>
          <p:nvPr/>
        </p:nvSpPr>
        <p:spPr>
          <a:xfrm>
            <a:off x="1008380" y="1318260"/>
            <a:ext cx="9443720" cy="4574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irrigation structure aligned with 90 cm potato row spacing to enable direct root‑zone water delivery.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water flow control system that regulates the amount of water supplied per hectare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/>
              <a:t>To design a wheeled frame that moves at a controlled speed along potato field rows.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METHODOLOGY</a:t>
            </a:r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70" y="1428750"/>
            <a:ext cx="10850880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3019425" y="-40005"/>
            <a:ext cx="4185285" cy="13258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1035050" y="859206"/>
            <a:ext cx="9973945" cy="51660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33" y="1253331"/>
            <a:ext cx="10344934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0486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 2</a:t>
            </a:r>
          </a:p>
        </p:txBody>
      </p:sp>
      <p:pic>
        <p:nvPicPr>
          <p:cNvPr id="2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70" y="1690687"/>
            <a:ext cx="7079322" cy="39179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CONCEPT 3</a:t>
            </a:r>
          </a:p>
        </p:txBody>
      </p:sp>
      <p:pic>
        <p:nvPicPr>
          <p:cNvPr id="3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7466"/>
            <a:ext cx="10515600" cy="4107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CONCEPT 4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25" y="1690688"/>
            <a:ext cx="5421313" cy="3423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FINAL CONCEPT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722" y="1474471"/>
            <a:ext cx="982455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RESULTS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Covers 22 potato rows simultaneously.</a:t>
            </a:r>
          </a:p>
          <a:p>
            <a:r>
              <a:rPr lang="en-US" altLang="en-US" dirty="0"/>
              <a:t>Total flow rate: 220 mL/s.</a:t>
            </a:r>
          </a:p>
          <a:p>
            <a:r>
              <a:rPr lang="en-US" altLang="en-US" dirty="0"/>
              <a:t>Hydraulic power available: 220 W.</a:t>
            </a:r>
          </a:p>
          <a:p>
            <a:r>
              <a:rPr lang="en-US" altLang="en-US" dirty="0"/>
              <a:t>Travel speed: 0.056 m/s.</a:t>
            </a:r>
          </a:p>
          <a:p>
            <a:r>
              <a:rPr lang="en-US" altLang="en-US" dirty="0"/>
              <a:t>Coverage rate: 0.40 ha/hr.</a:t>
            </a:r>
          </a:p>
          <a:p>
            <a:r>
              <a:rPr lang="en-US" altLang="en-US" dirty="0"/>
              <a:t>Irrigates 2 ha in 5 hours and 5 ha in 12.5 hours.</a:t>
            </a:r>
          </a:p>
          <a:p>
            <a:r>
              <a:rPr lang="en-US" altLang="en-US" dirty="0"/>
              <a:t>Safe design (FOS &gt; 2).</a:t>
            </a:r>
          </a:p>
          <a:p>
            <a:r>
              <a:rPr lang="en-US" altLang="en-US" dirty="0"/>
              <a:t>Production cost: US$522.28.</a:t>
            </a:r>
          </a:p>
          <a:p>
            <a:r>
              <a:rPr lang="en-US" altLang="en-US" dirty="0"/>
              <a:t>Suitable for 2–5 ha small-scale commercial farms.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9D2FBB3-6FA2-45FE-AC07-4F437AD7B5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3234100"/>
              </p:ext>
            </p:extLst>
          </p:nvPr>
        </p:nvGraphicFramePr>
        <p:xfrm>
          <a:off x="6871970" y="13411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Material cost                        US$422.28</a:t>
            </a:r>
          </a:p>
          <a:p>
            <a:r>
              <a:rPr lang="en-US"/>
              <a:t>Labour cost                           US$100.00</a:t>
            </a:r>
          </a:p>
          <a:p>
            <a:r>
              <a:rPr lang="en-US"/>
              <a:t>Total Production Cost          US$522.28</a:t>
            </a:r>
          </a:p>
          <a:p>
            <a:r>
              <a:rPr lang="en-US"/>
              <a:t>Selling Price		      US$650</a:t>
            </a:r>
          </a:p>
          <a:p>
            <a:r>
              <a:rPr lang="en-US"/>
              <a:t>Break even units 		      4units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r>
              <a:rPr lang="en-US" altLang="en-US"/>
              <a:t> Optimize the hydraulic drive mechanism to improve propulsion efficiency and reduce pressure losses. </a:t>
            </a:r>
          </a:p>
          <a:p>
            <a:r>
              <a:rPr lang="en-US" altLang="en-US"/>
              <a:t>Incorporate adjustable speed control to accommodate different irrigation requirements. </a:t>
            </a:r>
          </a:p>
          <a:p>
            <a:r>
              <a:rPr lang="en-US" altLang="en-US"/>
              <a:t>Install pressure regulation devices to ensure uniform water distribution across all emitters. </a:t>
            </a:r>
          </a:p>
          <a:p>
            <a:r>
              <a:rPr lang="en-US" altLang="en-US"/>
              <a:t>Develop a row-guidance mechanism to improve alignment and irrigation accuracy.</a:t>
            </a:r>
          </a:p>
          <a:p>
            <a:r>
              <a:rPr lang="en-US" altLang="en-US"/>
              <a:t>Integrate a filtration system to prevent emitter clogging and reduce maintenance. </a:t>
            </a:r>
          </a:p>
          <a:p>
            <a:r>
              <a:rPr lang="en-US" altLang="en-US"/>
              <a:t>Investigate the suitability of the design for other row crops beyond potatoes. </a:t>
            </a:r>
          </a:p>
          <a:p>
            <a:r>
              <a:rPr lang="en-US" altLang="en-US"/>
              <a:t>Explore the integration of low-cost sensors for improved irrigation monitoring and control. </a:t>
            </a:r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492</Words>
  <Application>Microsoft Office PowerPoint</Application>
  <PresentationFormat>Widescreen</PresentationFormat>
  <Paragraphs>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PROBLEM BACKGROUND</vt:lpstr>
      <vt:lpstr>PowerPoint Presentation</vt:lpstr>
      <vt:lpstr>LITERATURE REVIEW</vt:lpstr>
      <vt:lpstr>PROBLEM STATEMENT</vt:lpstr>
      <vt:lpstr>       AIM</vt:lpstr>
      <vt:lpstr>  OBJECTIVES</vt:lpstr>
      <vt:lpstr>RESEARCH METHODOLOGY</vt:lpstr>
      <vt:lpstr>    </vt:lpstr>
      <vt:lpstr>CONCEPT 2</vt:lpstr>
      <vt:lpstr>              CONCEPT 3</vt:lpstr>
      <vt:lpstr>                 CONCEPT 4</vt:lpstr>
      <vt:lpstr>             FINAL CONCEPT</vt:lpstr>
      <vt:lpstr>   RESULTS</vt:lpstr>
      <vt:lpstr>ECONOMIC ANALYSIS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Eseniah Chafukapansi</dc:creator>
  <cp:lastModifiedBy>zoe karipache</cp:lastModifiedBy>
  <cp:revision>4</cp:revision>
  <dcterms:created xsi:type="dcterms:W3CDTF">2024-11-25T22:37:00Z</dcterms:created>
  <dcterms:modified xsi:type="dcterms:W3CDTF">2026-06-01T08:50:06Z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489215A225CB4760945D94A7C61B8E15_13</vt:lpwstr>
  </property>
  <property fmtid="{D5CDD505-2E9C-101B-9397-08002B2CF9AE}" pid="3" name="KSOProductBuildVer">
    <vt:lpwstr>1033-12.1.0.26372</vt:lpwstr>
  </property>
</Properties>
</file>