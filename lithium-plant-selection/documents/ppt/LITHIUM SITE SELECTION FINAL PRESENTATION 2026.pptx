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mfort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18AE"/>
    <a:srgbClr val="2F3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0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38" y="282"/>
      </p:cViewPr>
      <p:guideLst>
        <p:guide orient="horz" pos="215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400" b="1" i="0">
                <a:solidFill>
                  <a:srgbClr val="0D0D0D"/>
                </a:solidFill>
                <a:latin typeface="Times New Roman"/>
                <a:cs typeface="Times New Roman"/>
              </a:rPr>
              <a:t>Annual cost (USD million)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Haulage</c:v>
                </c:pt>
              </c:strCache>
            </c:strRef>
          </c:tx>
          <c:spPr>
            <a:solidFill>
              <a:srgbClr val="2E3192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Goromonzi</c:v>
                </c:pt>
                <c:pt idx="1">
                  <c:v>Kwekwe South</c:v>
                </c:pt>
                <c:pt idx="2">
                  <c:v>Masvingo East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3.22</c:v>
                </c:pt>
                <c:pt idx="1">
                  <c:v>24.07</c:v>
                </c:pt>
                <c:pt idx="2">
                  <c:v>22.1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10A-436D-8EA8-040076B6D2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opex</c:v>
                </c:pt>
              </c:strCache>
            </c:strRef>
          </c:tx>
          <c:spPr>
            <a:solidFill>
              <a:srgbClr val="F4BE1F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Goromonzi</c:v>
                </c:pt>
                <c:pt idx="1">
                  <c:v>Kwekwe South</c:v>
                </c:pt>
                <c:pt idx="2">
                  <c:v>Masvingo East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3.2</c:v>
                </c:pt>
                <c:pt idx="1">
                  <c:v>2.9</c:v>
                </c:pt>
                <c:pt idx="2">
                  <c:v>2.6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10A-436D-8EA8-040076B6D2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Land amortisation</c:v>
                </c:pt>
              </c:strCache>
            </c:strRef>
          </c:tx>
          <c:spPr>
            <a:solidFill>
              <a:srgbClr val="8A8DA8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Goromonzi</c:v>
                </c:pt>
                <c:pt idx="1">
                  <c:v>Kwekwe South</c:v>
                </c:pt>
                <c:pt idx="2">
                  <c:v>Masvingo East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0.09</c:v>
                </c:pt>
                <c:pt idx="1">
                  <c:v>0.05</c:v>
                </c:pt>
                <c:pt idx="2">
                  <c:v>0.05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10A-436D-8EA8-040076B6D2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D9D9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latin typeface="Times New Roman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1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6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5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1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2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65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7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58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60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66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2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62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5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6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6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5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4863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6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6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CAC4E-FD66-44DE-9C57-03A1C6085CCC}" type="datetimeFigureOut">
              <a:rPr lang="en-US" smtClean="0"/>
              <a:t>21-Oct-26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69DC6-0258-4041-A0F7-38C4F794185A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514" y="235130"/>
            <a:ext cx="4495851" cy="15518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000" y="1950000"/>
            <a:ext cx="10992000" cy="2482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3000" b="1" i="0" dirty="0">
                <a:solidFill>
                  <a:srgbClr val="2E3192"/>
                </a:solidFill>
                <a:latin typeface="Times New Roman"/>
                <a:cs typeface="Times New Roman"/>
              </a:rPr>
              <a:t>DESIGN OF A SITE SELECTION SYSTEM FOR A LITHIUM PROCESSING PLANT IN ZIMBABWE</a:t>
            </a:r>
          </a:p>
          <a:p>
            <a:pPr algn="ctr">
              <a:spcAft>
                <a:spcPts val="1400"/>
              </a:spcAft>
            </a:pPr>
            <a:r>
              <a:rPr sz="1600" b="1" i="0" dirty="0">
                <a:solidFill>
                  <a:srgbClr val="0D0D0D"/>
                </a:solidFill>
                <a:latin typeface="Times New Roman"/>
                <a:cs typeface="Times New Roman"/>
              </a:rPr>
              <a:t>HIT300 – DESIGN AND MAKE PROJECT</a:t>
            </a:r>
          </a:p>
          <a:p>
            <a:pPr algn="ctr">
              <a:spcAft>
                <a:spcPts val="600"/>
              </a:spcAft>
            </a:pPr>
            <a:r>
              <a:rPr sz="1600" b="1" i="0" dirty="0">
                <a:solidFill>
                  <a:srgbClr val="0D0D0D"/>
                </a:solidFill>
                <a:latin typeface="Times New Roman"/>
                <a:cs typeface="Times New Roman"/>
              </a:rPr>
              <a:t>TIVAKUDZE MAGUNDA – H240646A</a:t>
            </a:r>
          </a:p>
          <a:p>
            <a:pPr algn="ctr">
              <a:spcAft>
                <a:spcPts val="600"/>
              </a:spcAft>
            </a:pPr>
            <a:r>
              <a:rPr sz="1600" b="0" i="0" dirty="0">
                <a:solidFill>
                  <a:srgbClr val="0D0D0D"/>
                </a:solidFill>
                <a:latin typeface="Times New Roman"/>
                <a:cs typeface="Times New Roman"/>
              </a:rPr>
              <a:t>Supervisor: Eng </a:t>
            </a:r>
            <a:r>
              <a:rPr lang="en-GB" sz="1600" dirty="0">
                <a:solidFill>
                  <a:srgbClr val="0D0D0D"/>
                </a:solidFill>
                <a:latin typeface="Times New Roman"/>
                <a:cs typeface="Times New Roman"/>
              </a:rPr>
              <a:t>Gwatidzo</a:t>
            </a:r>
            <a:endParaRPr sz="1600" b="0" i="0" dirty="0">
              <a:solidFill>
                <a:srgbClr val="0D0D0D"/>
              </a:solidFill>
              <a:latin typeface="Times New Roman"/>
              <a:cs typeface="Times New Roman"/>
            </a:endParaRPr>
          </a:p>
          <a:p>
            <a:pPr algn="ctr">
              <a:spcAft>
                <a:spcPts val="0"/>
              </a:spcAft>
            </a:pPr>
            <a:r>
              <a:rPr sz="1400" b="0" i="0" dirty="0">
                <a:solidFill>
                  <a:srgbClr val="0D0D0D"/>
                </a:solidFill>
                <a:latin typeface="Times New Roman"/>
                <a:cs typeface="Times New Roman"/>
              </a:rPr>
              <a:t>Industrial and Manufacturing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PROBLEM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300000"/>
            <a:ext cx="1054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Lithium powers electric-vehicle and grid-storage batteries; global demand has grown sharply.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Zimbabwe banned unprocessed lithium exports in December 2022, committing the country to beneficiation.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Main sources are Bikita, Arcadia (Goromonzi) and Zulu (Insiza); a plant draws ore from several mines.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Infrastructure is uneven: rail, grid and water differ sharply between districts.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Hidden factors (water, power, tailings, community response) decide whether a plant succeeds.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Without a written method, factor weights shift with whoever is in the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300000"/>
            <a:ext cx="1054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Multi-criteria decision making: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weighted scoring and AHP are mature but need a skilled analyst (Belton and Stewart, 2002).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GIS suitability analysis: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strong for finding where a plant could go, weak at gates, costs and scenarios.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Facility location and transportation models: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give cost-minimal allocation (Daskin, 2013; Eiselt and Marianov, 2011).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Feasibility gates: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hard constraints that no score can compensate for.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Research gap: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no tool joins gates, scoring, optimisation and reporting for lithium in Zimbabwe.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Second gap: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existing methods assume an analyst; decision makers need inputs and outputs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300000"/>
            <a:ext cx="1054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600" b="0" i="0">
                <a:solidFill>
                  <a:srgbClr val="0D0D0D"/>
                </a:solidFill>
                <a:latin typeface="Times New Roman"/>
                <a:cs typeface="Times New Roman"/>
              </a:rPr>
              <a:t>Zimbabwe has no structured, transparent and repeatable tool for selecting lithium processing plant sites.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600" b="0" i="0">
                <a:solidFill>
                  <a:srgbClr val="0D0D0D"/>
                </a:solidFill>
                <a:latin typeface="Times New Roman"/>
                <a:cs typeface="Times New Roman"/>
              </a:rPr>
              <a:t>Unstructured judgement hides trade-offs and inflates lifetime operating costs.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600" b="0" i="0">
                <a:solidFill>
                  <a:srgbClr val="0D0D0D"/>
                </a:solidFill>
                <a:latin typeface="Times New Roman"/>
                <a:cs typeface="Times New Roman"/>
              </a:rPr>
              <a:t>Utility, land and environmental risks show up only after construction begins.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600" b="0" i="0">
                <a:solidFill>
                  <a:srgbClr val="0D0D0D"/>
                </a:solidFill>
                <a:latin typeface="Times New Roman"/>
                <a:cs typeface="Times New Roman"/>
              </a:rPr>
              <a:t>The decision is once-off with a decades-long tail, so it must be right the first time.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600" b="0" i="0">
                <a:solidFill>
                  <a:srgbClr val="0D0D0D"/>
                </a:solidFill>
                <a:latin typeface="Times New Roman"/>
                <a:cs typeface="Times New Roman"/>
              </a:rPr>
              <a:t>“Right” means transparent, auditable and comprehensive, not merely confident.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AIM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00000" y="1700000"/>
            <a:ext cx="9400000" cy="27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2600" b="0" i="0">
                <a:solidFill>
                  <a:srgbClr val="FFFFFF"/>
                </a:solidFill>
                <a:latin typeface="Times New Roman"/>
                <a:cs typeface="Times New Roman"/>
              </a:rPr>
              <a:t>To design a site selection system for a lithium processing plant in Zimbabwe that combines a structured criteria framework, a mathematical optimisation model and a user-facing computational tool to produce transparent and defensible site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5500" y="1400000"/>
            <a:ext cx="800000" cy="1200000"/>
          </a:xfrm>
          <a:prstGeom prst="roundRect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4000" b="1" i="0">
                <a:solidFill>
                  <a:srgbClr val="0D0D0D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75500" y="1400000"/>
            <a:ext cx="2600000" cy="12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Criteria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5500" y="1400000"/>
            <a:ext cx="684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Define the industrial, logistical, utility, land and environmental factors, with the evidence required to assess 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500" y="2820000"/>
            <a:ext cx="800000" cy="1200000"/>
          </a:xfrm>
          <a:prstGeom prst="roundRect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4000" b="1" i="0">
                <a:solidFill>
                  <a:srgbClr val="0D0D0D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75500" y="2820000"/>
            <a:ext cx="2600000" cy="12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Optimisation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5500" y="2820000"/>
            <a:ext cx="684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Formulate a transparent model for facility selection and feedstock allocation with stated capacity, supply and feasibility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4240000"/>
            <a:ext cx="800000" cy="1200000"/>
          </a:xfrm>
          <a:prstGeom prst="roundRect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4000" b="1" i="0">
                <a:solidFill>
                  <a:srgbClr val="0D0D0D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5500" y="4240000"/>
            <a:ext cx="2600000" cy="12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  <a:cs typeface="Times New Roman"/>
              </a:rPr>
              <a:t>Computational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5500" y="4240000"/>
            <a:ext cx="6840000" cy="1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Report feasibility-gate outcomes, estimated annual costs, allocation decisions and sensitivity to changing assumptions.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RESEARCH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300000"/>
            <a:ext cx="105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Design-science approach: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the artefact is a decision support system; every design choice is explicit and justified.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5500" y="2350000"/>
            <a:ext cx="1900000" cy="95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Problem identification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5500" y="2705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85500" y="2350000"/>
            <a:ext cx="1900000" cy="95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Criteria definition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05500" y="2705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45500" y="2350000"/>
            <a:ext cx="1900000" cy="95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Gate specification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65500" y="2705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05500" y="2350000"/>
            <a:ext cx="1900000" cy="95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Scoring and optimisation model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25500" y="2705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465500" y="2350000"/>
            <a:ext cx="1900000" cy="95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Software design and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" y="3550000"/>
            <a:ext cx="10540000" cy="2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000" b="1" i="0">
                <a:solidFill>
                  <a:srgbClr val="2E3192"/>
                </a:solidFill>
                <a:latin typeface="Times New Roman"/>
                <a:cs typeface="Times New Roman"/>
              </a:rPr>
              <a:t>Evaluation: </a:t>
            </a:r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demonstration on a worked scenario; outputs checked for correctness, completeness and explainability.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000" b="1" i="0">
                <a:solidFill>
                  <a:srgbClr val="2E3192"/>
                </a:solidFill>
                <a:latin typeface="Times New Roman"/>
                <a:cs typeface="Times New Roman"/>
              </a:rPr>
              <a:t>Data: </a:t>
            </a:r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criteria from siting literature adapted to Zimbabwe; site and mine data entered by the user; OpenStreetMap basemap.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000" b="1" i="0">
                <a:solidFill>
                  <a:srgbClr val="2E3192"/>
                </a:solidFill>
                <a:latin typeface="Times New Roman"/>
                <a:cs typeface="Times New Roman"/>
              </a:rPr>
              <a:t>Missing evidence: </a:t>
            </a:r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never defaulted; a site with no water data fails the water gate.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200" b="1" i="0">
                <a:solidFill>
                  <a:srgbClr val="0D0D0D"/>
                </a:solidFill>
                <a:latin typeface="Times New Roman"/>
                <a:cs typeface="Times New Roman"/>
              </a:rPr>
              <a:t>CONCEPT 1: DESKTOP GIS WEIGHTED OVERLAY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Prepare spatial layers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Weighted overlay in QGIS / ArcGIS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Analyst interprets suitability map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Manual write-up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2350000"/>
            <a:ext cx="1054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Strength: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excellent for regional screening and for discovering where a plant could go.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Weakness: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no gate logic, no allocation optimisation and no repeatable interface; the analyst must rebuild the workflow for every new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500" y="4850000"/>
            <a:ext cx="10540000" cy="650000"/>
          </a:xfrm>
          <a:prstGeom prst="round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REJECTED: fails gates, optimisation and interface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CONCEPT 2: PYTHON, FLASK AND POSTGIS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Forms enter sites, mines, weights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Feasibility gates (Python)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Scoring + LP allocation (SciPy / PuLP)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Report on Flask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2350000"/>
            <a:ext cx="1054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Strength: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meets every mandatory requirement; PostGIS offers true spatial queries.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Weakness: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two languages and two frameworks, plus a database server to install, secure and back up, for spatial needs that are only simple distances.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500" y="4850000"/>
            <a:ext cx="10540000" cy="650000"/>
          </a:xfrm>
          <a:prstGeom prst="roundRect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 i="0">
                <a:solidFill>
                  <a:srgbClr val="0D0D0D"/>
                </a:solidFill>
                <a:latin typeface="Times New Roman"/>
                <a:cs typeface="Times New Roman"/>
              </a:rPr>
              <a:t>RUNNER-UP: passed screening, weighted score 66.5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000" b="1" i="0">
                <a:solidFill>
                  <a:srgbClr val="0D0D0D"/>
                </a:solidFill>
                <a:latin typeface="Times New Roman"/>
                <a:cs typeface="Times New Roman"/>
              </a:rPr>
              <a:t>CONCEPT 3: NEXT.JS, SQLITE AND OPENSTREETMAP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5500" y="1350000"/>
            <a:ext cx="190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Next.js UI: sites, mines, weights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4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85500" y="1350000"/>
            <a:ext cx="190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SQLite store via Prisma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0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45500" y="1350000"/>
            <a:ext cx="190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Feasibility gates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6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05500" y="1350000"/>
            <a:ext cx="190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Weighted score + allocation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2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65500" y="1350000"/>
            <a:ext cx="190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Results, map,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2350000"/>
            <a:ext cx="1054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Strength: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one language end to end, zero-administration database, free map tiles and an auditable pipeline.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Weakness: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SQLite does not suit heavy concurrent use and the solver is home-built, which is acceptable at this problem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500" y="4850000"/>
            <a:ext cx="10540000" cy="65000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SELECTED: passed screening, weighted score 90.5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CONCEPT 4: MATLAB OR EXCEL AHP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Pairwise comparison matrices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Derive weights, check consistency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Weighted scores per site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Excel / MATLAB tables and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2350000"/>
            <a:ext cx="1054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Strength: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rigorous weight derivation with a built-in consistency check.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Weakness: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files are fragile to share, anyone can edit logic silently, gates cannot be enforced and there is no scenario database or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500" y="4850000"/>
            <a:ext cx="10540000" cy="650000"/>
          </a:xfrm>
          <a:prstGeom prst="round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REJECTED: fails gates and interface (AHP kept as future work)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CONCEPT 5: MACHINE LEARNING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Feature engineering per site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Train classifier on labelled sites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Predict suitability probability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5500" y="1630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25500" y="1350000"/>
            <a:ext cx="2440000" cy="80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Rank 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2350000"/>
            <a:ext cx="1054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Strength: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scales to large, repetitive prediction tasks.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Weakness: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no labelled dataset of good and bad sites, a black-box result cannot explain why a site won, and the problem is only a handful of candidates.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500" y="4850000"/>
            <a:ext cx="10540000" cy="650000"/>
          </a:xfrm>
          <a:prstGeom prst="round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REJECTED: fails explainability and has no gate mechanism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CONCEPT SELECTION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5500" y="1250000"/>
          <a:ext cx="4999998" cy="25831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4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3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Mandatory requirement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C1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C2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C3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C4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C5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Criteria framework with evidence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Feasibility gates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Allocation optimisation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Usable decision-maker interface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Explainable output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Fail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Fail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Fail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5500" y="1250000"/>
          <a:ext cx="5240000" cy="21869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0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Criterion (weight)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C2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C3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Deployment, maintenance (25%)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60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90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Single language (20%)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55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95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Persistence simplicity (20%)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70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90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Mapping cost (15%)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75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90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Auditability (20%)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80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85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Weighted total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66.5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90.5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5500" y="4150000"/>
            <a:ext cx="1054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Five mandatory requirements screened out Concepts 1, 4 and 5; one failure eliminates a concept.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Concept 3 wins on four of five criteria; Concept 2 would need to win every criterion outright to overturn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FINAL CONCEPT: LiSelect·ZW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5500" y="1300000"/>
            <a:ext cx="1540000" cy="85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Input sites, mines, weights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85500" y="1605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625500" y="1300000"/>
            <a:ext cx="1540000" cy="850000"/>
          </a:xfrm>
          <a:prstGeom prst="roundRect">
            <a:avLst/>
          </a:prstGeom>
          <a:solidFill>
            <a:srgbClr val="B0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Feasibility gates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85500" y="1605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25500" y="1300000"/>
            <a:ext cx="1540000" cy="85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Weighted scoring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5500" y="1605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25500" y="1300000"/>
            <a:ext cx="1540000" cy="850000"/>
          </a:xfrm>
          <a:prstGeom prst="roundRect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0D0D0D"/>
                </a:solidFill>
                <a:latin typeface="Times New Roman"/>
                <a:cs typeface="Times New Roman"/>
              </a:rPr>
              <a:t>Cost-optimal selection + allocation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85500" y="1605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25500" y="1300000"/>
            <a:ext cx="1540000" cy="850000"/>
          </a:xfrm>
          <a:prstGeom prst="roundRect">
            <a:avLst/>
          </a:prstGeom>
          <a:solidFill>
            <a:srgbClr val="2E3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Sensitivity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85500" y="1605000"/>
            <a:ext cx="220000" cy="240000"/>
          </a:xfrm>
          <a:prstGeom prst="rightArrow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5500" y="1300000"/>
            <a:ext cx="1540000" cy="85000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  <a:cs typeface="Times New Roman"/>
              </a:rPr>
              <a:t>Report and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00" y="2300000"/>
            <a:ext cx="10540000" cy="2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100" b="1" i="0">
                <a:solidFill>
                  <a:srgbClr val="2E3192"/>
                </a:solidFill>
                <a:latin typeface="Times New Roman"/>
                <a:cs typeface="Times New Roman"/>
              </a:rPr>
              <a:t>Stack: </a:t>
            </a:r>
            <a:r>
              <a:rPr sz="2100" b="0" i="0">
                <a:solidFill>
                  <a:srgbClr val="0D0D0D"/>
                </a:solidFill>
                <a:latin typeface="Times New Roman"/>
                <a:cs typeface="Times New Roman"/>
              </a:rPr>
              <a:t>Next.js + TypeScript on the server, SQLite through Prisma, Leaflet with OpenStreetMap, Recharts.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100" b="1" i="0">
                <a:solidFill>
                  <a:srgbClr val="2E3192"/>
                </a:solidFill>
                <a:latin typeface="Times New Roman"/>
                <a:cs typeface="Times New Roman"/>
              </a:rPr>
              <a:t>Pages: </a:t>
            </a:r>
            <a:r>
              <a:rPr sz="2100" b="0" i="0">
                <a:solidFill>
                  <a:srgbClr val="0D0D0D"/>
                </a:solidFill>
                <a:latin typeface="Times New Roman"/>
                <a:cs typeface="Times New Roman"/>
              </a:rPr>
              <a:t>Dashboard, Sites, Mines, Criteria and a saved Scenario report.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100" b="1" i="0">
                <a:solidFill>
                  <a:srgbClr val="2E3192"/>
                </a:solidFill>
                <a:latin typeface="Times New Roman"/>
                <a:cs typeface="Times New Roman"/>
              </a:rPr>
              <a:t>Principle: </a:t>
            </a:r>
            <a:r>
              <a:rPr sz="2100" b="0" i="0">
                <a:solidFill>
                  <a:srgbClr val="0D0D0D"/>
                </a:solidFill>
                <a:latin typeface="Times New Roman"/>
                <a:cs typeface="Times New Roman"/>
              </a:rPr>
              <a:t>gates run first and a score can never compensate for a failed gate.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100" b="1" i="0">
                <a:solidFill>
                  <a:srgbClr val="2E3192"/>
                </a:solidFill>
                <a:latin typeface="Times New Roman"/>
                <a:cs typeface="Times New Roman"/>
              </a:rPr>
              <a:t>Traceability: </a:t>
            </a:r>
            <a:r>
              <a:rPr sz="2100" b="0" i="0">
                <a:solidFill>
                  <a:srgbClr val="0D0D0D"/>
                </a:solidFill>
                <a:latin typeface="Times New Roman"/>
                <a:cs typeface="Times New Roman"/>
              </a:rPr>
              <a:t>every output number traces to an input, a gate, a weight or a constraint.</a:t>
            </a:r>
          </a:p>
        </p:txBody>
      </p:sp>
      <p:pic>
        <p:nvPicPr>
          <p:cNvPr id="15" name="Picture 14" descr="hom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771" y="4400000"/>
            <a:ext cx="1799458" cy="1300000"/>
          </a:xfrm>
          <a:prstGeom prst="rect">
            <a:avLst/>
          </a:prstGeom>
          <a:ln w="9525">
            <a:solidFill>
              <a:srgbClr val="8A8DA8"/>
            </a:solidFill>
          </a:ln>
        </p:spPr>
      </p:pic>
      <p:pic>
        <p:nvPicPr>
          <p:cNvPr id="16" name="Picture 15" descr="sites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386" y="4400000"/>
            <a:ext cx="1900228" cy="1300000"/>
          </a:xfrm>
          <a:prstGeom prst="rect">
            <a:avLst/>
          </a:prstGeom>
          <a:ln w="9525">
            <a:solidFill>
              <a:srgbClr val="8A8DA8"/>
            </a:solidFill>
          </a:ln>
        </p:spPr>
      </p:pic>
      <p:pic>
        <p:nvPicPr>
          <p:cNvPr id="17" name="Picture 16" descr="feedstock-m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689" y="4400000"/>
            <a:ext cx="2037622" cy="1300000"/>
          </a:xfrm>
          <a:prstGeom prst="rect">
            <a:avLst/>
          </a:prstGeom>
          <a:ln w="9525">
            <a:solidFill>
              <a:srgbClr val="8A8DA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000" b="1" i="0">
                <a:solidFill>
                  <a:srgbClr val="0D0D0D"/>
                </a:solidFill>
                <a:latin typeface="Times New Roman"/>
                <a:cs typeface="Times New Roman"/>
              </a:rPr>
              <a:t>DESIGN CALCULATIONS: CRITERIA, GATES, SCORING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5500" y="1250000"/>
          <a:ext cx="4299999" cy="28117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6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0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Gate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Pass if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Water supply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≥ 4 ML/day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Grid reliability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≥ 0.70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Settlement buffer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≥ 3 km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Protected land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not on protected land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Plant capacity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≥ 200,000 t/yr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Land area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≥ 50 ha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Tailings suitability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≥ 5 / 10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Feedstock supply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total supply ≥ capacity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25500" y="1250000"/>
            <a:ext cx="604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900" b="1" i="0">
                <a:solidFill>
                  <a:srgbClr val="2E3192"/>
                </a:solidFill>
                <a:latin typeface="Times New Roman"/>
                <a:cs typeface="Times New Roman"/>
              </a:rPr>
              <a:t>15 criteria </a:t>
            </a:r>
            <a:r>
              <a:rPr sz="1900" b="0" i="0">
                <a:solidFill>
                  <a:srgbClr val="0D0D0D"/>
                </a:solidFill>
                <a:latin typeface="Times New Roman"/>
                <a:cs typeface="Times New Roman"/>
              </a:rPr>
              <a:t>in 5 groups: Industrial, Logistical, Utility, Land, Environmental; each has a definition, evidence required and source.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900" b="1" i="0">
                <a:solidFill>
                  <a:srgbClr val="2E3192"/>
                </a:solidFill>
                <a:latin typeface="Times New Roman"/>
                <a:cs typeface="Times New Roman"/>
              </a:rPr>
              <a:t>Normalise: </a:t>
            </a:r>
            <a:r>
              <a:rPr sz="1900" b="0" i="0">
                <a:solidFill>
                  <a:srgbClr val="0D0D0D"/>
                </a:solidFill>
                <a:latin typeface="Times New Roman"/>
                <a:cs typeface="Times New Roman"/>
              </a:rPr>
              <a:t>n = (v − min) / (max − min), clamped 0–1; cost criteria use 1 − n; scaled to 0–100.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900" b="1" i="0">
                <a:solidFill>
                  <a:srgbClr val="2E3192"/>
                </a:solidFill>
                <a:latin typeface="Times New Roman"/>
                <a:cs typeface="Times New Roman"/>
              </a:rPr>
              <a:t>Score: </a:t>
            </a:r>
            <a:r>
              <a:rPr sz="1900" b="0" i="0">
                <a:solidFill>
                  <a:srgbClr val="0D0D0D"/>
                </a:solidFill>
                <a:latin typeface="Times New Roman"/>
                <a:cs typeface="Times New Roman"/>
              </a:rPr>
              <a:t>S = Σ(w·n) / Σw, so only relative weights matter.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900" b="1" i="0">
                <a:solidFill>
                  <a:srgbClr val="2E3192"/>
                </a:solidFill>
                <a:latin typeface="Times New Roman"/>
                <a:cs typeface="Times New Roman"/>
              </a:rPr>
              <a:t>Example: </a:t>
            </a:r>
            <a:r>
              <a:rPr sz="1900" b="0" i="0">
                <a:solidFill>
                  <a:srgbClr val="0D0D0D"/>
                </a:solidFill>
                <a:latin typeface="Times New Roman"/>
                <a:cs typeface="Times New Roman"/>
              </a:rPr>
              <a:t>water 8 ML/day on range 0–10 gives n = 80.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200" b="1" i="0">
                <a:solidFill>
                  <a:srgbClr val="0D0D0D"/>
                </a:solidFill>
                <a:latin typeface="Times New Roman"/>
                <a:cs typeface="Times New Roman"/>
              </a:rPr>
              <a:t>DESIGN CALCULATIONS: OPTIMISATION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5500" y="1250000"/>
            <a:ext cx="10540000" cy="1900000"/>
          </a:xfrm>
          <a:prstGeom prst="rect">
            <a:avLst/>
          </a:prstGeom>
          <a:solidFill>
            <a:srgbClr val="1B1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0000" rtlCol="0" anchor="ctr"/>
          <a:lstStyle/>
          <a:p>
            <a:pPr algn="l"/>
            <a:r>
              <a:rPr sz="1700" b="0" i="0">
                <a:solidFill>
                  <a:srgbClr val="FFFFFF"/>
                </a:solidFill>
                <a:latin typeface="Consolas"/>
                <a:cs typeface="Times New Roman"/>
              </a:rPr>
              <a:t>min   Σj (Fj + Lj) yj  +  Σi Σj  r · dij · xij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onsolas"/>
                <a:cs typeface="Times New Roman"/>
              </a:rPr>
              <a:t>s.t.  Σj yj = 1                 one facility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onsolas"/>
                <a:cs typeface="Times New Roman"/>
              </a:rPr>
              <a:t>      Σj xij ≤ Si    for all i      mine supply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onsolas"/>
                <a:cs typeface="Times New Roman"/>
              </a:rPr>
              <a:t>      Σi xij = Cj · yj  for all j   plant capacity</a:t>
            </a:r>
          </a:p>
          <a:p>
            <a:pPr algn="l"/>
            <a:r>
              <a:rPr sz="1700" b="0" i="0">
                <a:solidFill>
                  <a:srgbClr val="FFFFFF"/>
                </a:solidFill>
                <a:latin typeface="Consolas"/>
                <a:cs typeface="Times New Roman"/>
              </a:rPr>
              <a:t>      yj = 0 if site j fails a gate  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" y="3300000"/>
            <a:ext cx="1054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900" b="1" i="0">
                <a:solidFill>
                  <a:srgbClr val="2E3192"/>
                </a:solidFill>
                <a:latin typeface="Times New Roman"/>
                <a:cs typeface="Times New Roman"/>
              </a:rPr>
              <a:t>Variables: </a:t>
            </a:r>
            <a:r>
              <a:rPr sz="1900" b="0" i="0">
                <a:solidFill>
                  <a:srgbClr val="0D0D0D"/>
                </a:solidFill>
                <a:latin typeface="Times New Roman"/>
                <a:cs typeface="Times New Roman"/>
              </a:rPr>
              <a:t>yj = 1 if site j is selected; xij = tonnes per year from mine i to site j.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900" b="1" i="0">
                <a:solidFill>
                  <a:srgbClr val="2E3192"/>
                </a:solidFill>
                <a:latin typeface="Times New Roman"/>
                <a:cs typeface="Times New Roman"/>
              </a:rPr>
              <a:t>Data: </a:t>
            </a:r>
            <a:r>
              <a:rPr sz="1900" b="0" i="0">
                <a:solidFill>
                  <a:srgbClr val="0D0D0D"/>
                </a:solidFill>
                <a:latin typeface="Times New Roman"/>
                <a:cs typeface="Times New Roman"/>
              </a:rPr>
              <a:t>Si mine supply, Cj capacity, dij road km (straight line × 1.3), r haulage rate (USD/t·km), Fj fixed opex, Lj land price × area ÷ 20 years.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900" b="1" i="0">
                <a:solidFill>
                  <a:srgbClr val="2E3192"/>
                </a:solidFill>
                <a:latin typeface="Times New Roman"/>
                <a:cs typeface="Times New Roman"/>
              </a:rPr>
              <a:t>Solution: </a:t>
            </a:r>
            <a:r>
              <a:rPr sz="1900" b="0" i="0">
                <a:solidFill>
                  <a:srgbClr val="0D0D0D"/>
                </a:solidFill>
                <a:latin typeface="Times New Roman"/>
                <a:cs typeface="Times New Roman"/>
              </a:rPr>
              <a:t>each gate-passing site is solved exactly, cheapest road-km first; the lowest total annual cost wins.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RESULTS: DEMONSTRATION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5500" y="1250000"/>
            <a:ext cx="10540000" cy="460000"/>
          </a:xfrm>
          <a:prstGeom prst="roundRect">
            <a:avLst/>
          </a:prstGeom>
          <a:solidFill>
            <a:srgbClr val="F4B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 i="0">
                <a:solidFill>
                  <a:srgbClr val="0D0D0D"/>
                </a:solidFill>
                <a:latin typeface="Times New Roman"/>
                <a:cs typeface="Times New Roman"/>
              </a:rPr>
              <a:t>Illustrative Zimbabwe dataset: 5 candidate sites, 5 mines, 1.26 Mt/yr supply, haulage USD 0.25/t·km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5500" y="1850000"/>
          <a:ext cx="10539999" cy="2148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88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0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Site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Gates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Reason / score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Goromonzi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Score 67.0 (rank 1)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Kwekwe South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Score 60.7 (rank 2)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Masvingo East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Score 56.3 (rank 3)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Insiza (Zulu adjacent)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FAIL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Water 2.8 ML/day; grid reliability 0.55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Mutorashanga Wetland Margin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FAIL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Settlement 1.2 km; protected land; tailings 3.5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5500" y="4450000"/>
            <a:ext cx="1054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Two of five sites are eliminated at the gates, and the failure reasons are recorded for stakeholders.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000" b="0" i="0">
                <a:solidFill>
                  <a:srgbClr val="0D0D0D"/>
                </a:solidFill>
                <a:latin typeface="Times New Roman"/>
                <a:cs typeface="Times New Roman"/>
              </a:rPr>
              <a:t>The three survivors are ranked by weighted score and then priced.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RESULTS: COST AND ALLOCATION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5500" y="1250000"/>
          <a:ext cx="5600000" cy="3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25500" y="1250000"/>
          <a:ext cx="4739998" cy="1310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1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Mine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t/yr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Road km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Cost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Arcadia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420,000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$0.48M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Bikita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30,000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366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$2.75M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450,000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$3.22M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25500" y="2700000"/>
            <a:ext cx="474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700" b="1" i="0">
                <a:solidFill>
                  <a:srgbClr val="2E3192"/>
                </a:solidFill>
                <a:latin typeface="Times New Roman"/>
                <a:cs typeface="Times New Roman"/>
              </a:rPr>
              <a:t>Recommended: </a:t>
            </a:r>
            <a:r>
              <a:rPr sz="1700" b="0" i="0">
                <a:solidFill>
                  <a:srgbClr val="0D0D0D"/>
                </a:solidFill>
                <a:latin typeface="Times New Roman"/>
                <a:cs typeface="Times New Roman"/>
              </a:rPr>
              <a:t>Goromonzi at USD 6.52M per year (haulage 3.22M + opex 3.20M + land 0.09M).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700" b="1" i="0">
                <a:solidFill>
                  <a:srgbClr val="2E3192"/>
                </a:solidFill>
                <a:latin typeface="Times New Roman"/>
                <a:cs typeface="Times New Roman"/>
              </a:rPr>
              <a:t>Next best: </a:t>
            </a:r>
            <a:r>
              <a:rPr sz="1700" b="0" i="0">
                <a:solidFill>
                  <a:srgbClr val="0D0D0D"/>
                </a:solidFill>
                <a:latin typeface="Times New Roman"/>
                <a:cs typeface="Times New Roman"/>
              </a:rPr>
              <a:t>Masvingo East USD 24.75M and Kwekwe South USD 27.02M.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700" b="1" i="0">
                <a:solidFill>
                  <a:srgbClr val="2E3192"/>
                </a:solidFill>
                <a:latin typeface="Times New Roman"/>
                <a:cs typeface="Times New Roman"/>
              </a:rPr>
              <a:t>Allocation: </a:t>
            </a:r>
            <a:r>
              <a:rPr sz="1700" b="0" i="0">
                <a:solidFill>
                  <a:srgbClr val="0D0D0D"/>
                </a:solidFill>
                <a:latin typeface="Times New Roman"/>
                <a:cs typeface="Times New Roman"/>
              </a:rPr>
              <a:t>nearest mine first, then the rest from the next mine up to its supply limit.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4850000"/>
            <a:ext cx="5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2E3192"/>
                </a:solidFill>
                <a:latin typeface="Times New Roman"/>
                <a:cs typeface="Times New Roman"/>
              </a:rPr>
              <a:t>Haulage dominates: Goromonzi sits 5 km from Arcadia, the largest nearby supplier.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RESULTS: SENSITIVITY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5500" y="1250000"/>
          <a:ext cx="5599997" cy="1965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15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6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Haulage rate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Annual cost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Change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Optimal site</a:t>
                      </a:r>
                    </a:p>
                  </a:txBody>
                  <a:tcPr marL="72000" marR="72000" marT="30000" marB="30000" anchor="ctr">
                    <a:solidFill>
                      <a:srgbClr val="2E31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USD 0.125 (0.5×)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$4.91M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−24.7%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Goromonzi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USD 0.200 (0.8×)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$5.87M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−9.9%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Goromonzi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USD 0.250 (base)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$6.52M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0%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Goromonzi</a:t>
                      </a:r>
                    </a:p>
                  </a:txBody>
                  <a:tcPr marL="72000" marR="72000" marT="30000" marB="30000" anchor="ctr">
                    <a:solidFill>
                      <a:srgbClr val="FDE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USD 0.300 (1.2×)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$7.16M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+9.9%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Goromonzi</a:t>
                      </a:r>
                    </a:p>
                  </a:txBody>
                  <a:tcPr marL="72000" marR="72000" marT="30000" marB="30000" anchor="ctr">
                    <a:solidFill>
                      <a:srgbClr val="EE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USD 0.500 (2×)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$9.74M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+49.5%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Goromonzi</a:t>
                      </a:r>
                    </a:p>
                  </a:txBody>
                  <a:tcPr marL="72000" marR="72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25500" y="1250000"/>
            <a:ext cx="474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800" b="1" i="0">
                <a:solidFill>
                  <a:srgbClr val="2E3192"/>
                </a:solidFill>
                <a:latin typeface="Times New Roman"/>
                <a:cs typeface="Times New Roman"/>
              </a:rPr>
              <a:t>Mine supply −15%: </a:t>
            </a:r>
            <a:r>
              <a:rPr sz="1800" b="0" i="0">
                <a:solidFill>
                  <a:srgbClr val="0D0D0D"/>
                </a:solidFill>
                <a:latin typeface="Times New Roman"/>
                <a:cs typeface="Times New Roman"/>
              </a:rPr>
              <a:t>cost +87.4% (USD 12.2M); Goromonzi still optimal.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800" b="1" i="0">
                <a:solidFill>
                  <a:srgbClr val="2E3192"/>
                </a:solidFill>
                <a:latin typeface="Times New Roman"/>
                <a:cs typeface="Times New Roman"/>
              </a:rPr>
              <a:t>Mine supply +15%: </a:t>
            </a:r>
            <a:r>
              <a:rPr sz="1800" b="0" i="0">
                <a:solidFill>
                  <a:srgbClr val="0D0D0D"/>
                </a:solidFill>
                <a:latin typeface="Times New Roman"/>
                <a:cs typeface="Times New Roman"/>
              </a:rPr>
              <a:t>cost −41.6% (USD 3.8M); Goromonzi still optimal.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800" b="1" i="0">
                <a:solidFill>
                  <a:srgbClr val="2E3192"/>
                </a:solidFill>
                <a:latin typeface="Times New Roman"/>
                <a:cs typeface="Times New Roman"/>
              </a:rPr>
              <a:t>Weights ±10%: </a:t>
            </a:r>
            <a:r>
              <a:rPr sz="1800" b="0" i="0">
                <a:solidFill>
                  <a:srgbClr val="0D0D0D"/>
                </a:solidFill>
                <a:latin typeface="Times New Roman"/>
                <a:cs typeface="Times New Roman"/>
              </a:rPr>
              <a:t>no criterion changes the top-scoring 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5500" y="4350000"/>
            <a:ext cx="10540000" cy="60000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  <a:cs typeface="Times New Roman"/>
              </a:rPr>
              <a:t>ROBUST: the recommendation holds under every tested perturbation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5000000"/>
            <a:ext cx="1054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1800" b="0" i="0">
                <a:solidFill>
                  <a:srgbClr val="0D0D0D"/>
                </a:solidFill>
                <a:latin typeface="Times New Roman"/>
                <a:cs typeface="Times New Roman"/>
              </a:rPr>
              <a:t>A fragile result is flagged FRAGILE with its reasons, so weak evidence is never hidden.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ECONOMIC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300000"/>
            <a:ext cx="1054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Cost of a wrong site (demo data):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Masvingo East costs USD 18.2M more per year than Goromonzi, about USD 365M over a 20-year plant life (undiscounted).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Where the money goes: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at Goromonzi, haulage 49%, fixed opex 49%, land 1.4%; haulage distance is paid on every tonne for the life of the plant.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Land price is not the decider: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land amortisation is under USD 0.1M per year at every feasible site.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Cost of the tool: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licence cost USD 0; Next.js, SQLite, Prisma, Leaflet and OpenStreetMap are free and run on a single host.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200" b="1" i="0">
                <a:solidFill>
                  <a:srgbClr val="2E3192"/>
                </a:solidFill>
                <a:latin typeface="Times New Roman"/>
                <a:cs typeface="Times New Roman"/>
              </a:rPr>
              <a:t>Caveat: </a:t>
            </a:r>
            <a:r>
              <a:rPr sz="2200" b="0" i="0">
                <a:solidFill>
                  <a:srgbClr val="0D0D0D"/>
                </a:solidFill>
                <a:latin typeface="Times New Roman"/>
                <a:cs typeface="Times New Roman"/>
              </a:rPr>
              <a:t>costs cover haulage, fixed opex and land only; capital cost and revenue are not modelled.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300000"/>
            <a:ext cx="1054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Connect real spatial datasets so protected-area and settlement checks come from geometry, not user assertion.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Add a formal AHP module so weights have a documented provenance.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Replace straight-line distances with routed road-network distances.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Extend allocation to several plants for regional planning.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Validate against real candidate sites and compare with practitioner judgement.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Make gate thresholds editable in the interface.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0000"/>
            <a:ext cx="10540000" cy="1000000"/>
          </a:xfrm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D0D0D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1300000"/>
            <a:ext cx="1054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1" i="0">
                <a:solidFill>
                  <a:srgbClr val="2E3192"/>
                </a:solidFill>
                <a:latin typeface="Times New Roman"/>
                <a:cs typeface="Times New Roman"/>
              </a:rPr>
              <a:t>Objective 1: </a:t>
            </a: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15 criteria in 5 groups with definitions and required evidence, plus 8 feasibility gates.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1" i="0">
                <a:solidFill>
                  <a:srgbClr val="2E3192"/>
                </a:solidFill>
                <a:latin typeface="Times New Roman"/>
                <a:cs typeface="Times New Roman"/>
              </a:rPr>
              <a:t>Objective 2: </a:t>
            </a: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a cost-minimising facility selection and allocation model with capacity, supply and gate constraints.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1" i="0">
                <a:solidFill>
                  <a:srgbClr val="2E3192"/>
                </a:solidFill>
                <a:latin typeface="Times New Roman"/>
                <a:cs typeface="Times New Roman"/>
              </a:rPr>
              <a:t>Objective 3: </a:t>
            </a: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a web system reporting gate outcomes, annual costs, allocation and sensitivity with a robust or fragile verdict.</a:t>
            </a:r>
          </a:p>
          <a:p>
            <a:pPr marL="285750" indent="-285750">
              <a:lnSpc>
                <a:spcPct val="90000"/>
              </a:lnSpc>
              <a:spcBef>
                <a:spcPts val="700"/>
              </a:spcBef>
              <a:buFont typeface="Arial"/>
              <a:buChar char="•"/>
            </a:pPr>
            <a:r>
              <a:rPr sz="2400" b="1" i="0">
                <a:solidFill>
                  <a:srgbClr val="2E3192"/>
                </a:solidFill>
                <a:latin typeface="Times New Roman"/>
                <a:cs typeface="Times New Roman"/>
              </a:rPr>
              <a:t>Result: </a:t>
            </a:r>
            <a:r>
              <a:rPr sz="2400" b="0" i="0">
                <a:solidFill>
                  <a:srgbClr val="0D0D0D"/>
                </a:solidFill>
                <a:latin typeface="Times New Roman"/>
                <a:cs typeface="Times New Roman"/>
              </a:rPr>
              <a:t>repeatable, explainable and defensible site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" y="5000000"/>
            <a:ext cx="105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3192"/>
                </a:solidFill>
                <a:latin typeface="Times New Roman"/>
                <a:cs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2051</Words>
  <Application>Microsoft Office PowerPoint</Application>
  <PresentationFormat>Widescreen</PresentationFormat>
  <Paragraphs>289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Times New Roman</vt:lpstr>
      <vt:lpstr>Office Theme</vt:lpstr>
      <vt:lpstr>PowerPoint Presentation</vt:lpstr>
      <vt:lpstr>PROBLEM BACKGROUND</vt:lpstr>
      <vt:lpstr>LITERATURE REVIEW</vt:lpstr>
      <vt:lpstr>PROBLEM STATEMENT</vt:lpstr>
      <vt:lpstr>AIM</vt:lpstr>
      <vt:lpstr>OBJECTIVES</vt:lpstr>
      <vt:lpstr>RESEARCH METHODOLOGY</vt:lpstr>
      <vt:lpstr>CONCEPT 1: DESKTOP GIS WEIGHTED OVERLAY</vt:lpstr>
      <vt:lpstr>CONCEPT 2: PYTHON, FLASK AND POSTGIS</vt:lpstr>
      <vt:lpstr>CONCEPT 3: NEXT.JS, SQLITE AND OPENSTREETMAP</vt:lpstr>
      <vt:lpstr>CONCEPT 4: MATLAB OR EXCEL AHP TOOL</vt:lpstr>
      <vt:lpstr>CONCEPT 5: MACHINE LEARNING SCORING</vt:lpstr>
      <vt:lpstr>CONCEPT SELECTION</vt:lpstr>
      <vt:lpstr>FINAL CONCEPT: LiSelect·ZW</vt:lpstr>
      <vt:lpstr>DESIGN CALCULATIONS: CRITERIA, GATES, SCORING</vt:lpstr>
      <vt:lpstr>DESIGN CALCULATIONS: OPTIMISATION MODEL</vt:lpstr>
      <vt:lpstr>RESULTS: DEMONSTRATION DATASET</vt:lpstr>
      <vt:lpstr>RESULTS: COST AND ALLOCATION</vt:lpstr>
      <vt:lpstr>RESULTS: SENSITIVITY</vt:lpstr>
      <vt:lpstr>ECONOMIC ANALYSIS</vt:lpstr>
      <vt:lpstr>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Eseniah Chafukapansi</dc:creator>
  <cp:lastModifiedBy>worshiplivingstone@gmail.com</cp:lastModifiedBy>
  <cp:revision>5</cp:revision>
  <dcterms:created xsi:type="dcterms:W3CDTF">2024-11-25T22:37:00Z</dcterms:created>
  <dcterms:modified xsi:type="dcterms:W3CDTF">2026-10-21T06:50:18Z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489215A225CB4760945D94A7C61B8E15_13</vt:lpwstr>
  </property>
  <property fmtid="{D5CDD505-2E9C-101B-9397-08002B2CF9AE}" pid="3" name="KSOProductBuildVer">
    <vt:lpwstr>1033-12.1.0.26372</vt:lpwstr>
  </property>
</Properties>
</file>